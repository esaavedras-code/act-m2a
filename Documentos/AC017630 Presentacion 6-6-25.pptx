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1"/>
    <p:restoredTop sz="95455" autoAdjust="0"/>
  </p:normalViewPr>
  <p:slideViewPr>
    <p:cSldViewPr snapToGrid="0" snapToObjects="1">
      <p:cViewPr varScale="1">
        <p:scale>
          <a:sx n="90" d="100"/>
          <a:sy n="90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2412-0135-6E4B-B831-9A0698DA2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2481F-9920-0947-A7E9-A98314392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2A2A-5FA7-F047-9326-E7E12D07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A816D-27A8-3543-9AE7-A07C2F31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B2B6-9D45-E740-82DC-B197466D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E661-5251-8D4A-B785-44A6DB99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805BC-2329-844A-AA01-6F2BB5F4A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7F6D-8852-CE49-8998-68CD6DC6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B4045-E775-CD4D-8BCB-38BA6D91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901E-AAEB-1741-8C24-87AF4B9F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9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6FD3-EADC-BE49-9D1E-801843E4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65E1A-2FEB-6B43-B3C9-3B10F5BFA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AE1A0-0F71-1048-977C-0F5FEE82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E03D-81D5-6F43-B226-E321E34C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7C75-D9AD-224B-8E50-7472944E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2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71C4-6DC5-D743-A14C-AC9B5789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77E21-F3F9-BA4C-844D-CF47936C9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FB21D-B0A2-ED4C-B382-FF389AD6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C829E-6BBE-9E4A-AF25-D71CBA21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6723E-E435-A44C-A56A-9F71480B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EF3C8-CEC5-634D-BBBA-6B22212B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6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E151-D546-4B46-93E1-2DB09AB9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17A8A-F292-F348-9D20-994350B6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1485-9514-D546-AF5A-737A1D11A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777EE-0FC5-9745-8AF0-AA12F2C18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33F60-2E0B-EF47-AAF9-945C2A0C8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80FDD-1848-2648-87A4-F26E9EB7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51F3B-9FF6-024E-94AD-12B9275A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33ADC-5518-4449-AD64-29620D23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4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4EE8-2C32-8744-B4EE-2F883318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2A5A6-55D4-FA41-9760-D294B296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B397E-FD52-3443-AAE9-806A19F6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97F72-3793-E541-BFDA-EAFE5317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2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84FF5-D0BD-9A44-BB46-B901CD88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249DB-708C-194E-B2FE-3C7C59C6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5AD9-A005-5B4D-AF2B-7353D0F8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1E0F-3DD5-BD46-8E28-962E6C63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0238E-DE30-D144-A309-807EC43EB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9C443-BF3B-DD4D-BEC1-4CF7159C5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A52D3-4D4E-AE4C-82AC-7F2152B3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68BB3-4D4C-5E40-BD58-52BF4971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BE593-5AEC-0142-B979-CA2FD0CC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077-08E0-D741-9843-FEB62AAD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B9C0C-808F-664D-BC5C-E056FD1A5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FAA4A-966F-F948-945A-630FEC4E9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CE15D-D3D2-494D-B5B2-4CF51323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92440-663F-CA4E-A3EA-E8801CFC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67C2-9C16-804A-91C6-AE3F113F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6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D94C-016F-D84C-9404-0B6B267F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0350E-D6D2-DE4E-8F9C-0E7998725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3C4C-D060-2F4D-8154-F950529A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C80E-23D2-924D-9B49-72AD606A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75A-C473-8C4B-9AD3-5F8EAFFB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4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A3A91-B457-C447-8FD1-085DBCA9C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ED488-E499-7140-A902-8AFDDCA2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C0850-3B30-2D42-A886-724AB2A6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E8C43-6C3F-A942-880D-E1E4045C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E568C-25E1-5A49-8171-D41747DB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7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3B11A-90FC-A14A-B350-D2C30209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5297C-D54D-5E41-9711-E0AA5D73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9A7D-C54C-384C-93FA-68B13FBE9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B6A4D-56EB-1D4A-84F5-04284CCEE23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906D5-5400-994C-B499-14A3A235E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BC10-29F6-0245-9E37-24E14D84C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rgbClr val="FFFFFF"/>
            </a:gs>
            <a:gs pos="0">
              <a:schemeClr val="accent2">
                <a:lumMod val="0"/>
                <a:lumOff val="100000"/>
              </a:schemeClr>
            </a:gs>
            <a:gs pos="3000">
              <a:schemeClr val="accent2">
                <a:lumMod val="0"/>
                <a:lumOff val="100000"/>
              </a:schemeClr>
            </a:gs>
            <a:gs pos="68000">
              <a:srgbClr val="F5BB93"/>
            </a:gs>
            <a:gs pos="100000">
              <a:schemeClr val="accent2">
                <a:lumMod val="1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F30F672-E817-F646-971D-3C182F1CD762}"/>
              </a:ext>
            </a:extLst>
          </p:cNvPr>
          <p:cNvSpPr/>
          <p:nvPr/>
        </p:nvSpPr>
        <p:spPr>
          <a:xfrm>
            <a:off x="191020" y="2444628"/>
            <a:ext cx="273061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endParaRPr lang="es-PR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s-US" sz="1400" b="1" dirty="0">
              <a:effectLst/>
              <a:latin typeface="Montserrat" pitchFamily="2" charset="77"/>
            </a:endParaRP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71FDE4C7-F357-F2F0-46E3-0AD9100E3368}"/>
              </a:ext>
            </a:extLst>
          </p:cNvPr>
          <p:cNvSpPr txBox="1"/>
          <p:nvPr/>
        </p:nvSpPr>
        <p:spPr>
          <a:xfrm>
            <a:off x="2966052" y="1997839"/>
            <a:ext cx="6259895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PROYECTOS ACTIVOS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DISTRITO METRO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FECHA DEL INFORME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6/6/2025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b="1" dirty="0">
              <a:solidFill>
                <a:schemeClr val="accent1">
                  <a:lumMod val="7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D50C5-1963-47D0-9E7B-29351662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5781" y="-265651"/>
            <a:ext cx="3431373" cy="20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0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3000"/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CD537-7E2A-6D44-00DE-FC1F0470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1F95915E-42C1-867E-C91D-E91DCE65416F}"/>
              </a:ext>
            </a:extLst>
          </p:cNvPr>
          <p:cNvSpPr txBox="1"/>
          <p:nvPr/>
        </p:nvSpPr>
        <p:spPr>
          <a:xfrm>
            <a:off x="2155552" y="126036"/>
            <a:ext cx="7872085" cy="461665"/>
          </a:xfrm>
          <a:prstGeom prst="rect">
            <a:avLst/>
          </a:prstGeom>
          <a:solidFill>
            <a:schemeClr val="accent2">
              <a:lumMod val="20000"/>
              <a:lumOff val="80000"/>
              <a:alpha val="94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AC-017630 / ZP-176(3)</a:t>
            </a:r>
            <a:endParaRPr lang="en-US" sz="2400" b="1" dirty="0">
              <a:latin typeface="Montserrat" pitchFamily="2" charset="77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FB54442E-9034-7D20-5CF4-0224E373EB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970762" y="2662992"/>
            <a:ext cx="6884234" cy="15582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D894565-9BE8-DF7B-70A6-8BDFE4ABF791}"/>
              </a:ext>
            </a:extLst>
          </p:cNvPr>
          <p:cNvSpPr/>
          <p:nvPr/>
        </p:nvSpPr>
        <p:spPr>
          <a:xfrm>
            <a:off x="191020" y="2444628"/>
            <a:ext cx="273061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endParaRPr lang="es-PR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s-US" sz="1400" b="1" dirty="0">
              <a:effectLst/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DA058-57BF-B59E-C33F-89277C49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345"/>
            <a:ext cx="2253869" cy="1353749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DD4677F-030E-370C-BF8D-53311D04B66C}"/>
              </a:ext>
            </a:extLst>
          </p:cNvPr>
          <p:cNvSpPr txBox="1">
            <a:spLocks/>
          </p:cNvSpPr>
          <p:nvPr/>
        </p:nvSpPr>
        <p:spPr bwMode="auto">
          <a:xfrm>
            <a:off x="61948" y="1063056"/>
            <a:ext cx="4014751" cy="1583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050" tIns="45537" rIns="91050" bIns="45537"/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PR" sz="1200" b="1" i="1" dirty="0">
                <a:latin typeface="Calibri" pitchFamily="34" charset="0"/>
              </a:rPr>
              <a:t>Descripción del Proyecto:</a:t>
            </a:r>
          </a:p>
          <a:p>
            <a:pPr algn="just">
              <a:buFont typeface="Arial" pitchFamily="34" charset="0"/>
              <a:buNone/>
            </a:pPr>
            <a:r>
              <a:rPr lang="es-E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 de la seguridad vial existente en la carretera PR-176. Los trabajos a realizar: mantenimiento y protección del tráfico, fresado en frío del pavimento existente y colocación de pavimento, la aplicación de marcas termoplásticas en el pavimento, la instalación de señales de tráfico, desmontaje, almacenamiento y entrega de la barandilla existente, instalación de W- </a:t>
            </a:r>
            <a:r>
              <a:rPr lang="es-E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beam</a:t>
            </a:r>
            <a:r>
              <a:rPr lang="es-E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guard</a:t>
            </a:r>
            <a:r>
              <a:rPr lang="es-E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rail de una cara y doble cara, construcción de nuevos módulos de transición y puente transiciones de mejora, reparaciones y reacondicionamiento de elementos de drenaje, señales de tráfico y otras obras misceláneas como se muestra en los planos.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B84CC7A-A365-8B84-21B5-CCA0DA9E2070}"/>
              </a:ext>
            </a:extLst>
          </p:cNvPr>
          <p:cNvSpPr txBox="1">
            <a:spLocks/>
          </p:cNvSpPr>
          <p:nvPr/>
        </p:nvSpPr>
        <p:spPr bwMode="auto">
          <a:xfrm>
            <a:off x="4149534" y="1104569"/>
            <a:ext cx="4014752" cy="30557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050" tIns="45537" rIns="91050" bIns="45537">
            <a:normAutofit/>
          </a:bodyPr>
          <a:lstStyle/>
          <a:p>
            <a:pPr>
              <a:spcBef>
                <a:spcPct val="20000"/>
              </a:spcBef>
              <a:buFont typeface="Arial" charset="0"/>
              <a:buNone/>
              <a:defRPr/>
            </a:pPr>
            <a:r>
              <a:rPr lang="es-PR" sz="1600" b="1" i="1" dirty="0">
                <a:latin typeface="Calibri" pitchFamily="34" charset="0"/>
              </a:rPr>
              <a:t>Actividades Realizándose: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s-PR" sz="1200" dirty="0">
                <a:latin typeface="Calibri" pitchFamily="34" charset="0"/>
              </a:rPr>
              <a:t>Haciendo rampas de impedidos en las distintas intersecciones a lo largo de la PR 176.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s-PR" sz="1200" dirty="0">
                <a:latin typeface="Calibri" pitchFamily="34" charset="0"/>
              </a:rPr>
              <a:t>Haciendo aceras en PR 176 </a:t>
            </a:r>
            <a:r>
              <a:rPr lang="es-PR" sz="1200" dirty="0" err="1">
                <a:latin typeface="Calibri" pitchFamily="34" charset="0"/>
              </a:rPr>
              <a:t>int</a:t>
            </a:r>
            <a:r>
              <a:rPr lang="es-PR" sz="1200" dirty="0">
                <a:latin typeface="Calibri" pitchFamily="34" charset="0"/>
              </a:rPr>
              <a:t> PR 845, PR 176 </a:t>
            </a:r>
            <a:r>
              <a:rPr lang="es-PR" sz="1200" dirty="0" err="1">
                <a:latin typeface="Calibri" pitchFamily="34" charset="0"/>
              </a:rPr>
              <a:t>int</a:t>
            </a:r>
            <a:r>
              <a:rPr lang="es-PR" sz="1200" dirty="0">
                <a:latin typeface="Calibri" pitchFamily="34" charset="0"/>
              </a:rPr>
              <a:t> calle San Javier y pintando encintados.</a:t>
            </a:r>
          </a:p>
          <a:p>
            <a:pPr marL="341803" indent="-341803" algn="just">
              <a:spcBef>
                <a:spcPct val="20000"/>
              </a:spcBef>
              <a:defRPr/>
            </a:pPr>
            <a:endParaRPr lang="es-PR" sz="1600" b="1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Font typeface="Arial" charset="0"/>
              <a:buNone/>
              <a:defRPr/>
            </a:pPr>
            <a:endParaRPr lang="es-PR" sz="1600" b="1" dirty="0">
              <a:latin typeface="Calibr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EB4A20-1798-872B-759C-85FF040C8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534" y="4160365"/>
            <a:ext cx="4006644" cy="25705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365" tIns="34177" rIns="68365" bIns="34177"/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PR" sz="1600" b="1" i="1" dirty="0">
                <a:latin typeface="Calibri" pitchFamily="34" charset="0"/>
              </a:rPr>
              <a:t>Puntos críticos a atender: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</a:pPr>
            <a:r>
              <a:rPr lang="es-PR" sz="1200" dirty="0">
                <a:latin typeface="Calibri" pitchFamily="34" charset="0"/>
              </a:rPr>
              <a:t>Ninguno al momento</a:t>
            </a:r>
            <a:r>
              <a:rPr lang="es-PR" sz="1200" b="1" i="1" dirty="0">
                <a:latin typeface="Calibri" pitchFamily="34" charset="0"/>
              </a:rPr>
              <a:t>.     </a:t>
            </a:r>
          </a:p>
          <a:p>
            <a:pPr algn="just">
              <a:spcBef>
                <a:spcPct val="20000"/>
              </a:spcBef>
            </a:pPr>
            <a:r>
              <a:rPr lang="es-PR" b="1" i="1" dirty="0">
                <a:latin typeface="Calibri" pitchFamily="34" charset="0"/>
              </a:rPr>
              <a:t>    </a:t>
            </a:r>
          </a:p>
          <a:p>
            <a:pPr algn="just">
              <a:spcBef>
                <a:spcPct val="20000"/>
              </a:spcBef>
            </a:pPr>
            <a:endParaRPr lang="es-PR" sz="1600" b="1" i="1" dirty="0">
              <a:latin typeface="Calibri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BDF258E-B635-CCCC-3A2D-A3651A4E2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665535" y="1171773"/>
            <a:ext cx="2120302" cy="28270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B896CDD1-F606-E006-087F-C87431FDE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10593" b="10593"/>
          <a:stretch/>
        </p:blipFill>
        <p:spPr bwMode="auto">
          <a:xfrm>
            <a:off x="8609808" y="4230216"/>
            <a:ext cx="2215455" cy="23281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CECAD0E-2606-EB62-CEA1-AB7B8839A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737029"/>
              </p:ext>
            </p:extLst>
          </p:nvPr>
        </p:nvGraphicFramePr>
        <p:xfrm>
          <a:off x="143155" y="2646844"/>
          <a:ext cx="3933544" cy="4052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621">
                  <a:extLst>
                    <a:ext uri="{9D8B030D-6E8A-4147-A177-3AD203B41FA5}">
                      <a16:colId xmlns:a16="http://schemas.microsoft.com/office/drawing/2014/main" val="1424108763"/>
                    </a:ext>
                  </a:extLst>
                </a:gridCol>
                <a:gridCol w="156028">
                  <a:extLst>
                    <a:ext uri="{9D8B030D-6E8A-4147-A177-3AD203B41FA5}">
                      <a16:colId xmlns:a16="http://schemas.microsoft.com/office/drawing/2014/main" val="1075529619"/>
                    </a:ext>
                  </a:extLst>
                </a:gridCol>
                <a:gridCol w="1017574">
                  <a:extLst>
                    <a:ext uri="{9D8B030D-6E8A-4147-A177-3AD203B41FA5}">
                      <a16:colId xmlns:a16="http://schemas.microsoft.com/office/drawing/2014/main" val="662175633"/>
                    </a:ext>
                  </a:extLst>
                </a:gridCol>
                <a:gridCol w="1207690">
                  <a:extLst>
                    <a:ext uri="{9D8B030D-6E8A-4147-A177-3AD203B41FA5}">
                      <a16:colId xmlns:a16="http://schemas.microsoft.com/office/drawing/2014/main" val="3981270283"/>
                    </a:ext>
                  </a:extLst>
                </a:gridCol>
                <a:gridCol w="383631">
                  <a:extLst>
                    <a:ext uri="{9D8B030D-6E8A-4147-A177-3AD203B41FA5}">
                      <a16:colId xmlns:a16="http://schemas.microsoft.com/office/drawing/2014/main" val="14859548"/>
                    </a:ext>
                  </a:extLst>
                </a:gridCol>
              </a:tblGrid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Administrador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 Ing. Luis Pastor Reyes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385425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Supervisor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 Ing. Carlos Céspedes Gómez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91549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Contratista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 Puerto Rico </a:t>
                      </a:r>
                      <a:r>
                        <a:rPr lang="es-ES_tradnl" sz="1100" b="1" u="none" strike="noStrike" noProof="0" dirty="0" err="1">
                          <a:effectLst/>
                        </a:rPr>
                        <a:t>Asphalt</a:t>
                      </a:r>
                      <a:r>
                        <a:rPr lang="es-ES_tradnl" sz="1100" b="1" u="none" strike="noStrike" noProof="0" dirty="0">
                          <a:effectLst/>
                        </a:rPr>
                        <a:t>, LLC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360662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Fecha del Informe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 6 de junio de 2025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814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Costo Original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$ 3,137,499.00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8849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Costo Revisado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$ 6,448,976.00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401792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Incremento ($) Proyectado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$ 0.00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213918"/>
                  </a:ext>
                </a:extLst>
              </a:tr>
              <a:tr h="108761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Última certificación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Fecha: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 de febrero de 2025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940853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Monto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Monto: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$ 705,598.12   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263331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noProof="0" dirty="0"/>
                        <a:t>Monto Certificado Acumulado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 $ 4,371,508.05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70210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noProof="0" dirty="0"/>
                        <a:t>Monto Ejecutado Acumulado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$ 4,228,673.81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063481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Fecha de Comienzo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1 de junio de 2021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90587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Original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25 de julio de 2022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759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Revisada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24 de mayo de 2025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8031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Proyectada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30 de julio de 2025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350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Obra Certificado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67.79 %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6374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Obra Ejecutado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67.79 %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51329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Tiempo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1" u="none" strike="noStrike" noProof="0" dirty="0">
                          <a:effectLst/>
                        </a:rPr>
                        <a:t>100.34% 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93151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Tipo de Fondo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Federal 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900" b="1" u="none" strike="noStrike" noProof="0" dirty="0">
                          <a:effectLst/>
                        </a:rPr>
                        <a:t>Terminación Sustancial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0675"/>
                  </a:ext>
                </a:extLst>
              </a:tr>
            </a:tbl>
          </a:graphicData>
        </a:graphic>
      </p:graphicFrame>
      <p:sp>
        <p:nvSpPr>
          <p:cNvPr id="20" name="TextBox 39">
            <a:extLst>
              <a:ext uri="{FF2B5EF4-FFF2-40B4-BE49-F238E27FC236}">
                <a16:creationId xmlns:a16="http://schemas.microsoft.com/office/drawing/2014/main" id="{5DDCAB26-0F82-FD5C-95B1-A40CABF72429}"/>
              </a:ext>
            </a:extLst>
          </p:cNvPr>
          <p:cNvSpPr txBox="1"/>
          <p:nvPr/>
        </p:nvSpPr>
        <p:spPr>
          <a:xfrm>
            <a:off x="1921636" y="578631"/>
            <a:ext cx="871212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Highway Safety Improvement Highway PR 176 Kilometers 0 to 4.00 San Juan, P.R.</a:t>
            </a:r>
            <a:endParaRPr lang="en-US" sz="2400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8622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3183</TotalTime>
  <Words>314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Tere Suarez</dc:creator>
  <cp:lastModifiedBy>Enrique Saavedra</cp:lastModifiedBy>
  <cp:revision>63</cp:revision>
  <cp:lastPrinted>2021-02-16T20:33:07Z</cp:lastPrinted>
  <dcterms:created xsi:type="dcterms:W3CDTF">2021-02-11T15:53:49Z</dcterms:created>
  <dcterms:modified xsi:type="dcterms:W3CDTF">2025-05-29T19:40:39Z</dcterms:modified>
</cp:coreProperties>
</file>