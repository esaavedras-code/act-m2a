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71"/>
    <p:restoredTop sz="95455" autoAdjust="0"/>
  </p:normalViewPr>
  <p:slideViewPr>
    <p:cSldViewPr snapToGrid="0" snapToObjects="1">
      <p:cViewPr varScale="1">
        <p:scale>
          <a:sx n="78" d="100"/>
          <a:sy n="78" d="100"/>
        </p:scale>
        <p:origin x="2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2412-0135-6E4B-B831-9A0698DA2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2481F-9920-0947-A7E9-A98314392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52A2A-5FA7-F047-9326-E7E12D07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A816D-27A8-3543-9AE7-A07C2F31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B2B6-9D45-E740-82DC-B197466D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E661-5251-8D4A-B785-44A6DB992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805BC-2329-844A-AA01-6F2BB5F4A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47F6D-8852-CE49-8998-68CD6DC6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B4045-E775-CD4D-8BCB-38BA6D91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2901E-AAEB-1741-8C24-87AF4B9F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91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6FD3-EADC-BE49-9D1E-801843E4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65E1A-2FEB-6B43-B3C9-3B10F5BFA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AE1A0-0F71-1048-977C-0F5FEE82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E03D-81D5-6F43-B226-E321E34C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07C75-D9AD-224B-8E50-7472944E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2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71C4-6DC5-D743-A14C-AC9B57898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77E21-F3F9-BA4C-844D-CF47936C9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FB21D-B0A2-ED4C-B382-FF389AD67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C829E-6BBE-9E4A-AF25-D71CBA21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6723E-E435-A44C-A56A-9F71480B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EF3C8-CEC5-634D-BBBA-6B22212B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6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CE151-D546-4B46-93E1-2DB09AB9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17A8A-F292-F348-9D20-994350B69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11485-9514-D546-AF5A-737A1D11A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6777EE-0FC5-9745-8AF0-AA12F2C18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D33F60-2E0B-EF47-AAF9-945C2A0C8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580FDD-1848-2648-87A4-F26E9EB7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51F3B-9FF6-024E-94AD-12B9275AE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33ADC-5518-4449-AD64-29620D231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4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4EE8-2C32-8744-B4EE-2F8833180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2A5A6-55D4-FA41-9760-D294B296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B397E-FD52-3443-AAE9-806A19F6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97F72-3793-E541-BFDA-EAFE5317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2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A84FF5-D0BD-9A44-BB46-B901CD889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249DB-708C-194E-B2FE-3C7C59C6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F5AD9-A005-5B4D-AF2B-7353D0F87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1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1E0F-3DD5-BD46-8E28-962E6C63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0238E-DE30-D144-A309-807EC43EB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9C443-BF3B-DD4D-BEC1-4CF7159C5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A52D3-4D4E-AE4C-82AC-7F2152B3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68BB3-4D4C-5E40-BD58-52BF4971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BE593-5AEC-0142-B979-CA2FD0CC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1077-08E0-D741-9843-FEB62AAD5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2B9C0C-808F-664D-BC5C-E056FD1A5D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FAA4A-966F-F948-945A-630FEC4E9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CE15D-D3D2-494D-B5B2-4CF51323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92440-663F-CA4E-A3EA-E8801CFC2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D67C2-9C16-804A-91C6-AE3F113F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66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D94C-016F-D84C-9404-0B6B267F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0350E-D6D2-DE4E-8F9C-0E7998725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83C4C-D060-2F4D-8154-F950529A7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7C80E-23D2-924D-9B49-72AD606A8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F75A-C473-8C4B-9AD3-5F8EAFFB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4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4A3A91-B457-C447-8FD1-085DBCA9C4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ED488-E499-7140-A902-8AFDDCA28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C0850-3B30-2D42-A886-724AB2A6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E8C43-6C3F-A942-880D-E1E4045C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E568C-25E1-5A49-8171-D41747DB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7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E3B11A-90FC-A14A-B350-D2C30209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5297C-D54D-5E41-9711-E0AA5D735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79A7D-C54C-384C-93FA-68B13FBE9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B6A4D-56EB-1D4A-84F5-04284CCEE23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906D5-5400-994C-B499-14A3A235E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EBC10-29F6-0245-9E37-24E14D84C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5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8000">
              <a:srgbClr val="FFFFFF"/>
            </a:gs>
            <a:gs pos="0">
              <a:schemeClr val="accent2">
                <a:lumMod val="0"/>
                <a:lumOff val="100000"/>
              </a:schemeClr>
            </a:gs>
            <a:gs pos="3000">
              <a:schemeClr val="accent2">
                <a:lumMod val="0"/>
                <a:lumOff val="100000"/>
              </a:schemeClr>
            </a:gs>
            <a:gs pos="68000">
              <a:srgbClr val="F5BB93"/>
            </a:gs>
            <a:gs pos="100000">
              <a:schemeClr val="accent2">
                <a:lumMod val="10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F30F672-E817-F646-971D-3C182F1CD762}"/>
              </a:ext>
            </a:extLst>
          </p:cNvPr>
          <p:cNvSpPr/>
          <p:nvPr/>
        </p:nvSpPr>
        <p:spPr>
          <a:xfrm>
            <a:off x="191020" y="2444628"/>
            <a:ext cx="2730619" cy="594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endParaRPr lang="es-PR" sz="1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s-US" sz="1400" b="1" dirty="0">
              <a:effectLst/>
              <a:latin typeface="Montserrat" pitchFamily="2" charset="77"/>
            </a:endParaRPr>
          </a:p>
        </p:txBody>
      </p:sp>
      <p:sp>
        <p:nvSpPr>
          <p:cNvPr id="20" name="TextBox 39">
            <a:extLst>
              <a:ext uri="{FF2B5EF4-FFF2-40B4-BE49-F238E27FC236}">
                <a16:creationId xmlns:a16="http://schemas.microsoft.com/office/drawing/2014/main" id="{71FDE4C7-F357-F2F0-46E3-0AD9100E3368}"/>
              </a:ext>
            </a:extLst>
          </p:cNvPr>
          <p:cNvSpPr txBox="1"/>
          <p:nvPr/>
        </p:nvSpPr>
        <p:spPr>
          <a:xfrm>
            <a:off x="2966052" y="1997839"/>
            <a:ext cx="6259895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PROYECTOS ACTIVOS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DISTRITO METRO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FECHA DEL INFORME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1/8/2026</a:t>
            </a:r>
            <a:b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b="1" dirty="0">
              <a:solidFill>
                <a:schemeClr val="accent1">
                  <a:lumMod val="75000"/>
                </a:schemeClr>
              </a:solidFill>
              <a:latin typeface="Montserrat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6D50C5-1963-47D0-9E7B-29351662CA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95781" y="-265651"/>
            <a:ext cx="3431373" cy="206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05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3000"/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CD537-7E2A-6D44-00DE-FC1F0470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1F95915E-42C1-867E-C91D-E91DCE65416F}"/>
              </a:ext>
            </a:extLst>
          </p:cNvPr>
          <p:cNvSpPr txBox="1"/>
          <p:nvPr/>
        </p:nvSpPr>
        <p:spPr>
          <a:xfrm>
            <a:off x="2155552" y="126036"/>
            <a:ext cx="7872085" cy="461665"/>
          </a:xfrm>
          <a:prstGeom prst="rect">
            <a:avLst/>
          </a:prstGeom>
          <a:solidFill>
            <a:schemeClr val="accent2">
              <a:lumMod val="20000"/>
              <a:lumOff val="80000"/>
              <a:alpha val="94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/>
              <a:t>AC-20024 </a:t>
            </a:r>
            <a:r>
              <a:rPr lang="en-US" sz="2400" b="1" dirty="0"/>
              <a:t>/ ER-9999(532)</a:t>
            </a:r>
            <a:endParaRPr lang="en-US" sz="2400" b="1" dirty="0">
              <a:latin typeface="Montserrat" pitchFamily="2" charset="77"/>
            </a:endParaRPr>
          </a:p>
        </p:txBody>
      </p:sp>
      <p:pic>
        <p:nvPicPr>
          <p:cNvPr id="7" name="Picture 16">
            <a:extLst>
              <a:ext uri="{FF2B5EF4-FFF2-40B4-BE49-F238E27FC236}">
                <a16:creationId xmlns:a16="http://schemas.microsoft.com/office/drawing/2014/main" id="{FB54442E-9034-7D20-5CF4-0224E373EB3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7970762" y="2662992"/>
            <a:ext cx="6884234" cy="15582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D894565-9BE8-DF7B-70A6-8BDFE4ABF791}"/>
              </a:ext>
            </a:extLst>
          </p:cNvPr>
          <p:cNvSpPr/>
          <p:nvPr/>
        </p:nvSpPr>
        <p:spPr>
          <a:xfrm>
            <a:off x="191020" y="2444628"/>
            <a:ext cx="2730619" cy="594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endParaRPr lang="es-PR" sz="1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s-US" sz="1400" b="1" dirty="0">
              <a:effectLst/>
              <a:latin typeface="Montserrat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ADA058-57BF-B59E-C33F-89277C491E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5345"/>
            <a:ext cx="2253869" cy="1353749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0DD4677F-030E-370C-BF8D-53311D04B66C}"/>
              </a:ext>
            </a:extLst>
          </p:cNvPr>
          <p:cNvSpPr txBox="1">
            <a:spLocks/>
          </p:cNvSpPr>
          <p:nvPr/>
        </p:nvSpPr>
        <p:spPr bwMode="auto">
          <a:xfrm>
            <a:off x="162831" y="1104569"/>
            <a:ext cx="3830776" cy="153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050" tIns="45537" rIns="91050" bIns="45537"/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es-PR" sz="1200" b="1" i="1" dirty="0">
                <a:latin typeface="Calibri" pitchFamily="34" charset="0"/>
              </a:rPr>
              <a:t>Descripción del Proyecto:</a:t>
            </a:r>
          </a:p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es-E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proyecto es uno de emergencia para reparar los daños causados por el Huracán María a las intersecciones semaforizadas, específicamente a los sistemas de cámaras de vigilancia y de monitoreo vehicular de las siguientes carreteras: PR-1, PR-181, PR-199 y PR-3.</a:t>
            </a:r>
            <a:r>
              <a:rPr lang="es-PR" sz="1200" b="1" i="1" dirty="0">
                <a:latin typeface="Calibri" pitchFamily="34" charset="0"/>
              </a:rPr>
              <a:t>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B84CC7A-A365-8B84-21B5-CCA0DA9E2070}"/>
              </a:ext>
            </a:extLst>
          </p:cNvPr>
          <p:cNvSpPr txBox="1">
            <a:spLocks/>
          </p:cNvSpPr>
          <p:nvPr/>
        </p:nvSpPr>
        <p:spPr bwMode="auto">
          <a:xfrm>
            <a:off x="4149534" y="1104569"/>
            <a:ext cx="4014752" cy="30557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050" tIns="45537" rIns="91050" bIns="45537">
            <a:normAutofit fontScale="55000" lnSpcReduction="20000"/>
          </a:bodyPr>
          <a:lstStyle/>
          <a:p>
            <a:pPr>
              <a:spcBef>
                <a:spcPct val="20000"/>
              </a:spcBef>
              <a:buFont typeface="Arial" charset="0"/>
              <a:buNone/>
              <a:defRPr/>
            </a:pPr>
            <a:r>
              <a:rPr lang="es-PR" sz="1600" b="1" i="1" dirty="0">
                <a:latin typeface="Calibri" pitchFamily="34" charset="0"/>
              </a:rPr>
              <a:t>Actividades Realizándose:</a:t>
            </a:r>
          </a:p>
          <a:p>
            <a:pPr marL="285750" indent="-28575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1200" dirty="0">
                <a:latin typeface="Calibri" pitchFamily="34" charset="0"/>
              </a:rPr>
              <a:t>DTOP </a:t>
            </a:r>
            <a:r>
              <a:rPr lang="en-US" sz="1200" dirty="0" err="1">
                <a:latin typeface="Calibri" pitchFamily="34" charset="0"/>
              </a:rPr>
              <a:t>inspeccionó</a:t>
            </a:r>
            <a:r>
              <a:rPr lang="en-US" sz="1200" dirty="0">
                <a:latin typeface="Calibri" pitchFamily="34" charset="0"/>
              </a:rPr>
              <a:t> y </a:t>
            </a:r>
            <a:r>
              <a:rPr lang="en-US" sz="1200" dirty="0" err="1">
                <a:latin typeface="Calibri" pitchFamily="34" charset="0"/>
              </a:rPr>
              <a:t>aprobó</a:t>
            </a:r>
            <a:r>
              <a:rPr lang="en-US" sz="1200" dirty="0">
                <a:latin typeface="Calibri" pitchFamily="34" charset="0"/>
              </a:rPr>
              <a:t> </a:t>
            </a:r>
            <a:r>
              <a:rPr lang="en-US" sz="1200" dirty="0" err="1">
                <a:latin typeface="Calibri" pitchFamily="34" charset="0"/>
              </a:rPr>
              <a:t>varias</a:t>
            </a:r>
            <a:r>
              <a:rPr lang="en-US" sz="1200" dirty="0">
                <a:latin typeface="Calibri" pitchFamily="34" charset="0"/>
              </a:rPr>
              <a:t> </a:t>
            </a:r>
            <a:r>
              <a:rPr lang="en-US" sz="1200" dirty="0" err="1">
                <a:latin typeface="Calibri" pitchFamily="34" charset="0"/>
              </a:rPr>
              <a:t>intersecciones</a:t>
            </a:r>
            <a:r>
              <a:rPr lang="en-US" sz="1200" dirty="0">
                <a:latin typeface="Calibri" pitchFamily="34" charset="0"/>
              </a:rPr>
              <a:t> de la PR-1: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int. Villa Blanca.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Sakura Ave.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Ave. Muñoz Rivera.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Ave. Leoncio Velázquez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PR-169 y PR 33.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PR-796.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Int. PR-798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PR-175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PR-176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Beverly Hills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Canejas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Alto Apolo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José de Diego </a:t>
            </a:r>
            <a:r>
              <a:rPr lang="en-US" sz="1200" dirty="0" err="1">
                <a:latin typeface="Calibri" pitchFamily="34" charset="0"/>
              </a:rPr>
              <a:t>st.</a:t>
            </a:r>
            <a:endParaRPr lang="en-US" sz="1200" dirty="0">
              <a:latin typeface="Calibri" pitchFamily="34" charset="0"/>
            </a:endParaRP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con PR-21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PR-3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endParaRPr lang="en-US" sz="1200" dirty="0">
              <a:latin typeface="Calibri" pitchFamily="34" charset="0"/>
            </a:endParaRPr>
          </a:p>
          <a:p>
            <a:pPr marL="285750" indent="-28575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s-ES" sz="1200" dirty="0">
                <a:latin typeface="Calibri" pitchFamily="34" charset="0"/>
              </a:rPr>
              <a:t>Instalando cables entre el gabinete, el K7, el </a:t>
            </a:r>
            <a:r>
              <a:rPr lang="es-ES" sz="1200" dirty="0" err="1">
                <a:latin typeface="Calibri" pitchFamily="34" charset="0"/>
              </a:rPr>
              <a:t>Pull</a:t>
            </a:r>
            <a:r>
              <a:rPr lang="es-ES" sz="1200" dirty="0">
                <a:latin typeface="Calibri" pitchFamily="34" charset="0"/>
              </a:rPr>
              <a:t> box, y el </a:t>
            </a:r>
            <a:r>
              <a:rPr lang="es-ES" sz="1200" dirty="0" err="1">
                <a:latin typeface="Calibri" pitchFamily="34" charset="0"/>
              </a:rPr>
              <a:t>Riser</a:t>
            </a:r>
            <a:r>
              <a:rPr lang="es-ES" sz="1200" dirty="0">
                <a:latin typeface="Calibri" pitchFamily="34" charset="0"/>
              </a:rPr>
              <a:t> en las siguientes intersecciones: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s-ES" sz="1200" dirty="0">
                <a:latin typeface="Calibri" pitchFamily="34" charset="0"/>
              </a:rPr>
              <a:t>PR- 1 &amp; Accesos a San Juan Industrial Park &amp; Ramallo.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s-ES" sz="1200" dirty="0">
                <a:latin typeface="Calibri" pitchFamily="34" charset="0"/>
              </a:rPr>
              <a:t>PR181 con Encantada.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s-ES" sz="1200" dirty="0">
                <a:latin typeface="Calibri" pitchFamily="34" charset="0"/>
              </a:rPr>
              <a:t>PR-199 con Emiliano </a:t>
            </a:r>
            <a:r>
              <a:rPr lang="es-ES" sz="1200" dirty="0" err="1">
                <a:latin typeface="Calibri" pitchFamily="34" charset="0"/>
              </a:rPr>
              <a:t>Poll</a:t>
            </a:r>
            <a:endParaRPr lang="es-ES" sz="1200" dirty="0">
              <a:latin typeface="Calibri" pitchFamily="34" charset="0"/>
            </a:endParaRP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s-ES" sz="1200" dirty="0">
                <a:latin typeface="Calibri" pitchFamily="34" charset="0"/>
              </a:rPr>
              <a:t>PR-199 con Regina Medina </a:t>
            </a:r>
            <a:r>
              <a:rPr lang="es-ES" sz="1200" dirty="0" err="1">
                <a:latin typeface="Calibri" pitchFamily="34" charset="0"/>
              </a:rPr>
              <a:t>st.</a:t>
            </a:r>
            <a:endParaRPr lang="es-ES" sz="1200" dirty="0">
              <a:latin typeface="Calibri" pitchFamily="34" charset="0"/>
            </a:endParaRPr>
          </a:p>
          <a:p>
            <a:pPr lvl="1" algn="just">
              <a:spcBef>
                <a:spcPct val="20000"/>
              </a:spcBef>
              <a:defRPr/>
            </a:pPr>
            <a:endParaRPr lang="en-US" sz="1200" dirty="0">
              <a:latin typeface="Calibri" pitchFamily="34" charset="0"/>
            </a:endParaRPr>
          </a:p>
          <a:p>
            <a:pPr marL="285750" indent="-28575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1200" dirty="0">
                <a:latin typeface="Calibri" pitchFamily="34" charset="0"/>
              </a:rPr>
              <a:t>Se </a:t>
            </a:r>
            <a:r>
              <a:rPr lang="en-US" sz="1200" dirty="0" err="1">
                <a:latin typeface="Calibri" pitchFamily="34" charset="0"/>
              </a:rPr>
              <a:t>instaló</a:t>
            </a:r>
            <a:r>
              <a:rPr lang="en-US" sz="1200" dirty="0">
                <a:latin typeface="Calibri" pitchFamily="34" charset="0"/>
              </a:rPr>
              <a:t> la camara </a:t>
            </a:r>
            <a:r>
              <a:rPr lang="en-US" sz="1200" dirty="0" err="1">
                <a:latin typeface="Calibri" pitchFamily="34" charset="0"/>
              </a:rPr>
              <a:t>pendiente</a:t>
            </a:r>
            <a:r>
              <a:rPr lang="en-US" sz="1200" dirty="0">
                <a:latin typeface="Calibri" pitchFamily="34" charset="0"/>
              </a:rPr>
              <a:t> de la PR-1 con José Garrido Ave.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EB4A20-1798-872B-759C-85FF040C8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534" y="4160365"/>
            <a:ext cx="4014752" cy="25705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365" tIns="34177" rIns="68365" bIns="34177"/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es-PR" sz="1600" b="1" i="1" dirty="0">
                <a:latin typeface="Calibri" pitchFamily="34" charset="0"/>
              </a:rPr>
              <a:t>Puntos críticos a atender:</a:t>
            </a:r>
          </a:p>
          <a:p>
            <a:pPr marL="285750" indent="-285750" algn="just">
              <a:spcBef>
                <a:spcPct val="20000"/>
              </a:spcBef>
              <a:buFont typeface="+mj-lt"/>
              <a:buAutoNum type="arabicPeriod"/>
            </a:pPr>
            <a:r>
              <a:rPr lang="es-PR" sz="1200" dirty="0">
                <a:latin typeface="Calibri" pitchFamily="34" charset="0"/>
              </a:rPr>
              <a:t>Ninguno al momento</a:t>
            </a:r>
            <a:r>
              <a:rPr lang="es-PR" sz="1200" b="1" i="1" dirty="0">
                <a:latin typeface="Calibri" pitchFamily="34" charset="0"/>
              </a:rPr>
              <a:t>.     </a:t>
            </a:r>
          </a:p>
          <a:p>
            <a:pPr algn="just">
              <a:spcBef>
                <a:spcPct val="20000"/>
              </a:spcBef>
            </a:pPr>
            <a:r>
              <a:rPr lang="es-PR" b="1" i="1" dirty="0">
                <a:latin typeface="Calibri" pitchFamily="34" charset="0"/>
              </a:rPr>
              <a:t>    </a:t>
            </a:r>
          </a:p>
          <a:p>
            <a:pPr algn="just">
              <a:spcBef>
                <a:spcPct val="20000"/>
              </a:spcBef>
            </a:pPr>
            <a:endParaRPr lang="es-PR" sz="1600" b="1" i="1" dirty="0">
              <a:latin typeface="Calibri" pitchFamily="34" charset="0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1BDF258E-B635-CCCC-3A2D-A3651A4E2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8452987" y="1277376"/>
            <a:ext cx="3004226" cy="24686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CECAD0E-2606-EB62-CEA1-AB7B8839A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651806"/>
              </p:ext>
            </p:extLst>
          </p:nvPr>
        </p:nvGraphicFramePr>
        <p:xfrm>
          <a:off x="171731" y="2646844"/>
          <a:ext cx="3825930" cy="41794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6650">
                  <a:extLst>
                    <a:ext uri="{9D8B030D-6E8A-4147-A177-3AD203B41FA5}">
                      <a16:colId xmlns:a16="http://schemas.microsoft.com/office/drawing/2014/main" val="1424108763"/>
                    </a:ext>
                  </a:extLst>
                </a:gridCol>
                <a:gridCol w="151759">
                  <a:extLst>
                    <a:ext uri="{9D8B030D-6E8A-4147-A177-3AD203B41FA5}">
                      <a16:colId xmlns:a16="http://schemas.microsoft.com/office/drawing/2014/main" val="1075529619"/>
                    </a:ext>
                  </a:extLst>
                </a:gridCol>
                <a:gridCol w="989735">
                  <a:extLst>
                    <a:ext uri="{9D8B030D-6E8A-4147-A177-3AD203B41FA5}">
                      <a16:colId xmlns:a16="http://schemas.microsoft.com/office/drawing/2014/main" val="662175633"/>
                    </a:ext>
                  </a:extLst>
                </a:gridCol>
                <a:gridCol w="1174650">
                  <a:extLst>
                    <a:ext uri="{9D8B030D-6E8A-4147-A177-3AD203B41FA5}">
                      <a16:colId xmlns:a16="http://schemas.microsoft.com/office/drawing/2014/main" val="3981270283"/>
                    </a:ext>
                  </a:extLst>
                </a:gridCol>
                <a:gridCol w="373136">
                  <a:extLst>
                    <a:ext uri="{9D8B030D-6E8A-4147-A177-3AD203B41FA5}">
                      <a16:colId xmlns:a16="http://schemas.microsoft.com/office/drawing/2014/main" val="14859548"/>
                    </a:ext>
                  </a:extLst>
                </a:gridCol>
              </a:tblGrid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Administrador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Ing. Luis Pastor Reyes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385425"/>
                  </a:ext>
                </a:extLst>
              </a:tr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Supervisor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Ing. Carlos Céspedes Gómez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791549"/>
                  </a:ext>
                </a:extLst>
              </a:tr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Contratista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noProof="0" dirty="0">
                          <a:effectLst/>
                        </a:rPr>
                        <a:t>Bonneville Contracting and Technology Group, LLC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360662"/>
                  </a:ext>
                </a:extLst>
              </a:tr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Fecha del Informe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 de enero de 2026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28144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Costo Original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$ 927,200.00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988494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Costo Revisado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$ 4,935,909.26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401792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Incremento ($) Proyectado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$ 78,400.00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213918"/>
                  </a:ext>
                </a:extLst>
              </a:tr>
              <a:tr h="108761">
                <a:tc rowSpan="2" gridSpan="2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Última certificación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Fecha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Fecha: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de noviembre de 2025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940853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Monto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Monto: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$ 27,775.76   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263331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noProof="0" dirty="0"/>
                        <a:t>Monto Certificado Acumulado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s-ES_tradnl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$ 4,338,349.90 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702105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noProof="0" dirty="0"/>
                        <a:t>Monto Ejecutado Acumulado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s-ES_tradnl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$4,338,349.90 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063481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Fecha de Comienzo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1 de noviembre de 2022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90587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Terminación Original (fecha)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27 de agosto de 2023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7595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Terminación Revisada (fecha)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13 de enero de 2026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180315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Terminación Proyectada (fecha)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13 de enero de 2026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13505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% Obra Certificado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87.89%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763744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% Obra Ejecutado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87.89%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51329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% Tiempo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95.30%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393151"/>
                  </a:ext>
                </a:extLst>
              </a:tr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Tipo de Fondo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Federal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900" b="1" u="none" strike="noStrike" noProof="0" dirty="0">
                          <a:effectLst/>
                        </a:rPr>
                        <a:t>Terminación Sustancial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90675"/>
                  </a:ext>
                </a:extLst>
              </a:tr>
            </a:tbl>
          </a:graphicData>
        </a:graphic>
      </p:graphicFrame>
      <p:sp>
        <p:nvSpPr>
          <p:cNvPr id="20" name="TextBox 39">
            <a:extLst>
              <a:ext uri="{FF2B5EF4-FFF2-40B4-BE49-F238E27FC236}">
                <a16:creationId xmlns:a16="http://schemas.microsoft.com/office/drawing/2014/main" id="{5DDCAB26-0F82-FD5C-95B1-A40CABF72429}"/>
              </a:ext>
            </a:extLst>
          </p:cNvPr>
          <p:cNvSpPr txBox="1"/>
          <p:nvPr/>
        </p:nvSpPr>
        <p:spPr>
          <a:xfrm>
            <a:off x="1980891" y="588128"/>
            <a:ext cx="959829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Rehabilitación del Sistema Video Detección de las Carreteras PR-1, PR-181, PR-199 y PR-3</a:t>
            </a:r>
            <a:endParaRPr lang="en-US" sz="2400" b="1" dirty="0">
              <a:latin typeface="Montserrat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F3A04E-DAD3-5B73-1729-3A42DF726F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52987" y="4080804"/>
            <a:ext cx="3004226" cy="24686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86226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3494</TotalTime>
  <Words>353</Words>
  <Application>Microsoft Office PowerPoint</Application>
  <PresentationFormat>Widescreen</PresentationFormat>
  <Paragraphs>77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 Narrow</vt:lpstr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Tere Suarez</dc:creator>
  <cp:lastModifiedBy>Enrique Saavedra</cp:lastModifiedBy>
  <cp:revision>74</cp:revision>
  <cp:lastPrinted>2021-02-16T20:33:07Z</cp:lastPrinted>
  <dcterms:created xsi:type="dcterms:W3CDTF">2021-02-11T15:53:49Z</dcterms:created>
  <dcterms:modified xsi:type="dcterms:W3CDTF">2026-01-06T16:27:52Z</dcterms:modified>
</cp:coreProperties>
</file>